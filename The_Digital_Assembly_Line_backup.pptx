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8"/>
    <p:sldId id="268" r:id="rId19"/>
    <p:sldId id="269" r:id="rId20"/>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notesMaster" Target="notesMasters/notesMaster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Concept: Một sơ đồ kỹ thuật dạng ký họa màu kem nhạt chủ đạo, nét vẽ đen và đỏ đô. Bản đồ truyền thống bị dữ liệu đâm xuyên, dẫn tới lâu đài dữ liệu khổng lồ của Big Tech.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Concept: Một cán cân biện chứng nét mảnh. Đĩa cân bên trái chứa một khiên chắn kiên cố trống đồng Đông Sơn màu đỏ đô (Độc lập). Đĩa cân bên phải chứa quả địa cầu mạng neural (Hội nhập).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Concept: Biểu tượng Búa &amp; Liềm cổ điển cách điệu: Búa vi mạch điện tử, Liềm sợi cáp quang đỏ đô. Nhiều bàn tay (shipper, creator, IT engineer) cùng chung sức nâng cao.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Concept: Khung Terminal phác họa nét mảnh trên nền kem nhạt. Phía trong là 4 dòng lệnh bắt đầu bằng dấu nhắc '&gt;' màu đỏ đô.</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4.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914400" y="457200"/>
            <a:ext cx="14429232" cy="1371600"/>
          </a:xfrm>
          <a:prstGeom prst="rect">
            <a:avLst/>
          </a:prstGeom>
          <a:noFill/>
        </p:spPr>
        <p:txBody>
          <a:bodyPr wrap="square" lIns="0" tIns="0" rIns="0" bIns="0">
            <a:spAutoFit/>
          </a:bodyPr>
          <a:lstStyle/>
          <a:p>
            <a:pPr>
              <a:spcAft>
                <a:spcPts val="600"/>
              </a:spcAft>
              <a:defRPr sz="3600" b="1">
                <a:solidFill>
                  <a:srgbClr val="800020"/>
                </a:solidFill>
                <a:latin typeface="Georgia"/>
              </a:defRPr>
            </a:pPr>
            <a:r>
              <a:t>Chủ quyền Dân tộc số &amp; Biên giới ảo</a:t>
            </a:r>
          </a:p>
          <a:p>
            <a:pPr>
              <a:defRPr sz="1600" i="1">
                <a:solidFill>
                  <a:srgbClr val="4A4A4A"/>
                </a:solidFill>
                <a:latin typeface="Georgia"/>
              </a:defRPr>
            </a:pPr>
            <a:r>
              <a:t>Phân tích Đặc trưng Dân tộc thời đại số dưới lăng kính Duy vật lịch sử</a:t>
            </a:r>
          </a:p>
        </p:txBody>
      </p:sp>
      <p:sp>
        <p:nvSpPr>
          <p:cNvPr id="3" name="TextBox 2"/>
          <p:cNvSpPr txBox="1"/>
          <p:nvPr/>
        </p:nvSpPr>
        <p:spPr>
          <a:xfrm>
            <a:off x="914400" y="2011680"/>
            <a:ext cx="7772400" cy="4114800"/>
          </a:xfrm>
          <a:prstGeom prst="rect">
            <a:avLst/>
          </a:prstGeom>
          <a:noFill/>
        </p:spPr>
        <p:txBody>
          <a:bodyPr wrap="square" lIns="0" tIns="0" rIns="0" bIns="0">
            <a:spAutoFit/>
          </a:bodyPr>
          <a:lstStyle/>
          <a:p>
            <a:pPr>
              <a:spcAft>
                <a:spcPts val="400"/>
              </a:spcAft>
              <a:defRPr sz="1600" b="1">
                <a:solidFill>
                  <a:srgbClr val="800020"/>
                </a:solidFill>
                <a:latin typeface="Arial"/>
              </a:defRPr>
            </a:pPr>
            <a:r>
              <a:t>🔴 4 Đặc trưng Dân tộc Truyền thống (Physical Nation)</a:t>
            </a:r>
          </a:p>
          <a:p>
            <a:pPr>
              <a:spcAft>
                <a:spcPts val="200"/>
              </a:spcAft>
              <a:defRPr sz="1400">
                <a:solidFill>
                  <a:srgbClr val="111111"/>
                </a:solidFill>
                <a:latin typeface="Calibri"/>
              </a:defRPr>
            </a:pPr>
            <a:r>
              <a:t> • Lãnh thổ xác định: Biên giới địa lý rõ ràng (đất liền, vùng trời, biển đảo).</a:t>
            </a:r>
          </a:p>
          <a:p>
            <a:pPr>
              <a:spcAft>
                <a:spcPts val="200"/>
              </a:spcAft>
              <a:defRPr sz="1400">
                <a:solidFill>
                  <a:srgbClr val="111111"/>
                </a:solidFill>
                <a:latin typeface="Calibri"/>
              </a:defRPr>
            </a:pPr>
            <a:r>
              <a:t> • Thị trường kinh tế: Hệ thống giao thương và tiền tệ nội địa thống nhất.</a:t>
            </a:r>
          </a:p>
          <a:p>
            <a:pPr>
              <a:spcAft>
                <a:spcPts val="200"/>
              </a:spcAft>
              <a:defRPr sz="1400">
                <a:solidFill>
                  <a:srgbClr val="111111"/>
                </a:solidFill>
                <a:latin typeface="Calibri"/>
              </a:defRPr>
            </a:pPr>
            <a:r>
              <a:t> • Ngôn ngữ chung: Công cụ giao tiếp và thống nhất ý chí dân tộc.</a:t>
            </a:r>
          </a:p>
          <a:p>
            <a:pPr>
              <a:spcAft>
                <a:spcPts val="200"/>
              </a:spcAft>
              <a:defRPr sz="1400">
                <a:solidFill>
                  <a:srgbClr val="111111"/>
                </a:solidFill>
                <a:latin typeface="Calibri"/>
              </a:defRPr>
            </a:pPr>
            <a:r>
              <a:t> • Văn hóa dân tộc: Các giá trị tinh thần, phong tục tích lũy lịch sử.</a:t>
            </a:r>
          </a:p>
          <a:p>
            <a:pPr>
              <a:spcBef>
                <a:spcPts val="800"/>
              </a:spcBef>
            </a:pPr>
          </a:p>
          <a:p>
            <a:pPr>
              <a:spcAft>
                <a:spcPts val="400"/>
              </a:spcAft>
              <a:defRPr sz="1600" b="1">
                <a:solidFill>
                  <a:srgbClr val="800020"/>
                </a:solidFill>
                <a:latin typeface="Arial"/>
              </a:defRPr>
            </a:pPr>
            <a:r>
              <a:t>⚡ Xâm lấn của "Đế chế số" Big Tech (Digital Empire)</a:t>
            </a:r>
          </a:p>
          <a:p>
            <a:pPr>
              <a:spcAft>
                <a:spcPts val="200"/>
              </a:spcAft>
              <a:defRPr sz="1400">
                <a:solidFill>
                  <a:srgbClr val="111111"/>
                </a:solidFill>
                <a:latin typeface="Calibri"/>
              </a:defRPr>
            </a:pPr>
            <a:r>
              <a:t> • Lãnh thổ số bị xâm lấn: Không gian mạng là lãnh thổ thứ 5 bị Big Tech kiểm soát.</a:t>
            </a:r>
          </a:p>
          <a:p>
            <a:pPr>
              <a:spcAft>
                <a:spcPts val="200"/>
              </a:spcAft>
              <a:defRPr sz="1400">
                <a:solidFill>
                  <a:srgbClr val="111111"/>
                </a:solidFill>
                <a:latin typeface="Calibri"/>
              </a:defRPr>
            </a:pPr>
            <a:r>
              <a:t> • Độc quyền kinh tế số: Big Tech áp đặt luật chơi riêng, hút thặng dư ra nước ngoài.</a:t>
            </a:r>
          </a:p>
          <a:p>
            <a:pPr>
              <a:spcAft>
                <a:spcPts val="200"/>
              </a:spcAft>
              <a:defRPr sz="1400">
                <a:solidFill>
                  <a:srgbClr val="111111"/>
                </a:solidFill>
                <a:latin typeface="Calibri"/>
              </a:defRPr>
            </a:pPr>
            <a:r>
              <a:t> • Bá quyền ngôn ngữ số: Thuật toán dịch thuật làm lu mờ sự đa dạng bản địa.</a:t>
            </a:r>
          </a:p>
          <a:p>
            <a:pPr>
              <a:spcAft>
                <a:spcPts val="200"/>
              </a:spcAft>
              <a:defRPr sz="1400">
                <a:solidFill>
                  <a:srgbClr val="111111"/>
                </a:solidFill>
                <a:latin typeface="Calibri"/>
              </a:defRPr>
            </a:pPr>
            <a:r>
              <a:t> • Đồng hóa văn hóa thuật toán: Áp đặt văn hóa tiêu dùng, đe dọa bản sắc dân tộc.</a:t>
            </a:r>
          </a:p>
        </p:txBody>
      </p:sp>
      <p:sp>
        <p:nvSpPr>
          <p:cNvPr id="4" name="Rounded Rectangle 3"/>
          <p:cNvSpPr/>
          <p:nvPr/>
        </p:nvSpPr>
        <p:spPr>
          <a:xfrm>
            <a:off x="914400" y="6583680"/>
            <a:ext cx="7772400" cy="1645920"/>
          </a:xfrm>
          <a:prstGeom prst="roundRect">
            <a:avLst/>
          </a:prstGeom>
          <a:solidFill>
            <a:srgbClr val="EFECE6"/>
          </a:solidFill>
          <a:ln w="19050">
            <a:solidFill>
              <a:srgbClr val="80002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400"/>
              </a:spcAft>
              <a:defRPr sz="1400" b="1">
                <a:solidFill>
                  <a:srgbClr val="800020"/>
                </a:solidFill>
                <a:latin typeface="Georgia"/>
              </a:defRPr>
            </a:pPr>
            <a:r>
              <a:t>💡 BÀI HỌC TRIẾT HỌC</a:t>
            </a:r>
          </a:p>
          <a:p>
            <a:pPr>
              <a:defRPr sz="1250" i="1">
                <a:solidFill>
                  <a:srgbClr val="111111"/>
                </a:solidFill>
                <a:latin typeface="Calibri"/>
              </a:defRPr>
            </a:pPr>
            <a:r>
              <a:t>Chủ quyền quốc gia trong thế kỷ 21 không còn giới hạn ở đất liền hay biển cả, mà được định đoạt bởi năng lực bảo vệ Chủ quyền Dân tộc số (Digital Sovereignty), làm chủ hạ tầng công nghệ và bảo mật dữ liệu nhân dân.</a:t>
            </a:r>
          </a:p>
        </p:txBody>
      </p:sp>
      <p:pic>
        <p:nvPicPr>
          <p:cNvPr id="5" name="Picture 4" descr="digital_sovereignty_1780023910742.png"/>
          <p:cNvPicPr>
            <a:picLocks noChangeAspect="1"/>
          </p:cNvPicPr>
          <p:nvPr/>
        </p:nvPicPr>
        <p:blipFill>
          <a:blip r:embed="rId2"/>
          <a:stretch>
            <a:fillRect/>
          </a:stretch>
        </p:blipFill>
        <p:spPr>
          <a:xfrm>
            <a:off x="9144000" y="2011680"/>
            <a:ext cx="6217920" cy="3497579"/>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914400" y="457200"/>
            <a:ext cx="14429232" cy="1371600"/>
          </a:xfrm>
          <a:prstGeom prst="rect">
            <a:avLst/>
          </a:prstGeom>
          <a:noFill/>
        </p:spPr>
        <p:txBody>
          <a:bodyPr wrap="square" lIns="0" tIns="0" rIns="0" bIns="0">
            <a:spAutoFit/>
          </a:bodyPr>
          <a:lstStyle/>
          <a:p>
            <a:pPr>
              <a:spcAft>
                <a:spcPts val="600"/>
              </a:spcAft>
              <a:defRPr sz="3600" b="1">
                <a:solidFill>
                  <a:srgbClr val="800020"/>
                </a:solidFill>
                <a:latin typeface="Georgia"/>
              </a:defRPr>
            </a:pPr>
            <a:r>
              <a:t>Hai xu hướng phát triển Dân tộc thời số</a:t>
            </a:r>
          </a:p>
          <a:p>
            <a:pPr>
              <a:defRPr sz="1600" i="1">
                <a:solidFill>
                  <a:srgbClr val="4A4A4A"/>
                </a:solidFill>
                <a:latin typeface="Georgia"/>
              </a:defRPr>
            </a:pPr>
            <a:r>
              <a:t>Tính biện chứng giữa Tự chủ Độc lập và Hội nhập Công nghệ toàn cầu</a:t>
            </a:r>
          </a:p>
        </p:txBody>
      </p:sp>
      <p:sp>
        <p:nvSpPr>
          <p:cNvPr id="3" name="TextBox 2"/>
          <p:cNvSpPr txBox="1"/>
          <p:nvPr/>
        </p:nvSpPr>
        <p:spPr>
          <a:xfrm>
            <a:off x="914400" y="2011680"/>
            <a:ext cx="7772400" cy="4114800"/>
          </a:xfrm>
          <a:prstGeom prst="rect">
            <a:avLst/>
          </a:prstGeom>
          <a:noFill/>
        </p:spPr>
        <p:txBody>
          <a:bodyPr wrap="square" lIns="0" tIns="0" rIns="0" bIns="0">
            <a:spAutoFit/>
          </a:bodyPr>
          <a:lstStyle/>
          <a:p>
            <a:pPr>
              <a:spcAft>
                <a:spcPts val="400"/>
              </a:spcAft>
              <a:defRPr sz="1600" b="1">
                <a:solidFill>
                  <a:srgbClr val="800020"/>
                </a:solidFill>
                <a:latin typeface="Arial"/>
              </a:defRPr>
            </a:pPr>
            <a:r>
              <a:t>🛡️ Xu hướng 01: Khẳng định Độc lập &amp; Tự chủ số</a:t>
            </a:r>
          </a:p>
          <a:p>
            <a:pPr>
              <a:spcAft>
                <a:spcPts val="200"/>
              </a:spcAft>
              <a:defRPr sz="1400">
                <a:solidFill>
                  <a:srgbClr val="111111"/>
                </a:solidFill>
                <a:latin typeface="Calibri"/>
              </a:defRPr>
            </a:pPr>
            <a:r>
              <a:t> • Nguyên nhân: Các quốc gia thức tỉnh trước sự thao túng thông tin và độc quyền kinh tế của các tập đoàn Big Tech.</a:t>
            </a:r>
          </a:p>
          <a:p>
            <a:pPr>
              <a:spcAft>
                <a:spcPts val="200"/>
              </a:spcAft>
              <a:defRPr sz="1400">
                <a:solidFill>
                  <a:srgbClr val="111111"/>
                </a:solidFill>
                <a:latin typeface="Calibri"/>
              </a:defRPr>
            </a:pPr>
            <a:r>
              <a:t> • Hành động: Xây dựng luật an ninh mạng, phát triển nền tảng nội địa (Zalo, ứng dụng số VN), lưu trữ dữ liệu tại máy chủ trong nước để bảo vệ bản sắc.</a:t>
            </a:r>
          </a:p>
          <a:p>
            <a:pPr>
              <a:spcBef>
                <a:spcPts val="800"/>
              </a:spcBef>
            </a:pPr>
          </a:p>
          <a:p>
            <a:pPr>
              <a:spcAft>
                <a:spcPts val="400"/>
              </a:spcAft>
              <a:defRPr sz="1600" b="1">
                <a:solidFill>
                  <a:srgbClr val="800020"/>
                </a:solidFill>
                <a:latin typeface="Arial"/>
              </a:defRPr>
            </a:pPr>
            <a:r>
              <a:t>🌐 Xu hướng 02: Liên hợp &amp; Hội nhập Kinh tế số</a:t>
            </a:r>
          </a:p>
          <a:p>
            <a:pPr>
              <a:spcAft>
                <a:spcPts val="200"/>
              </a:spcAft>
              <a:defRPr sz="1400">
                <a:solidFill>
                  <a:srgbClr val="111111"/>
                </a:solidFill>
                <a:latin typeface="Calibri"/>
              </a:defRPr>
            </a:pPr>
            <a:r>
              <a:t> • Nguyên nhân: Sự phát triển vượt bậc của lực lượng sản xuất buộc các dân tộc phải phá vỡ tính cô lập để hội nhập.</a:t>
            </a:r>
          </a:p>
          <a:p>
            <a:pPr>
              <a:spcAft>
                <a:spcPts val="200"/>
              </a:spcAft>
              <a:defRPr sz="1400">
                <a:solidFill>
                  <a:srgbClr val="111111"/>
                </a:solidFill>
                <a:latin typeface="Calibri"/>
              </a:defRPr>
            </a:pPr>
            <a:r>
              <a:t> • Hành động: Tham gia vào chuỗi cung ứng công nghệ toàn cầu, hợp tác quốc tế về chuyển giao AI, phối hợp phòng chống tội phạm mạng xuyên quốc gia.</a:t>
            </a:r>
          </a:p>
        </p:txBody>
      </p:sp>
      <p:sp>
        <p:nvSpPr>
          <p:cNvPr id="4" name="Rounded Rectangle 3"/>
          <p:cNvSpPr/>
          <p:nvPr/>
        </p:nvSpPr>
        <p:spPr>
          <a:xfrm>
            <a:off x="914400" y="6583680"/>
            <a:ext cx="7772400" cy="1645920"/>
          </a:xfrm>
          <a:prstGeom prst="roundRect">
            <a:avLst/>
          </a:prstGeom>
          <a:solidFill>
            <a:srgbClr val="EFECE6"/>
          </a:solidFill>
          <a:ln w="19050">
            <a:solidFill>
              <a:srgbClr val="80002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400"/>
              </a:spcAft>
              <a:defRPr sz="1400" b="1">
                <a:solidFill>
                  <a:srgbClr val="800020"/>
                </a:solidFill>
                <a:latin typeface="Georgia"/>
              </a:defRPr>
            </a:pPr>
            <a:r>
              <a:t>💡 BÀI HỌC TRIẾT HỌC</a:t>
            </a:r>
          </a:p>
          <a:p>
            <a:pPr>
              <a:defRPr sz="1250" i="1">
                <a:solidFill>
                  <a:srgbClr val="111111"/>
                </a:solidFill>
                <a:latin typeface="Calibri"/>
              </a:defRPr>
            </a:pPr>
            <a:r>
              <a:t>Phát triển Dân tộc số vững vàng đòi hỏi tư duy biện chứng sâu sắc: Giữ vững Độc lập số để bảo vệ nền tảng quốc gia, đồng thời chủ động Hội nhập số để không bị tụt hậu trong dòng chảy tiến bộ nhân loại.</a:t>
            </a:r>
          </a:p>
        </p:txBody>
      </p:sp>
      <p:pic>
        <p:nvPicPr>
          <p:cNvPr id="5" name="Picture 4" descr="two_national_trends_1780023934642.png"/>
          <p:cNvPicPr>
            <a:picLocks noChangeAspect="1"/>
          </p:cNvPicPr>
          <p:nvPr/>
        </p:nvPicPr>
        <p:blipFill>
          <a:blip r:embed="rId2"/>
          <a:stretch>
            <a:fillRect/>
          </a:stretch>
        </p:blipFill>
        <p:spPr>
          <a:xfrm>
            <a:off x="9144000" y="2011680"/>
            <a:ext cx="6217920" cy="3497579"/>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914400" y="457200"/>
            <a:ext cx="14429232" cy="1371600"/>
          </a:xfrm>
          <a:prstGeom prst="rect">
            <a:avLst/>
          </a:prstGeom>
          <a:noFill/>
        </p:spPr>
        <p:txBody>
          <a:bodyPr wrap="square" lIns="0" tIns="0" rIns="0" bIns="0">
            <a:spAutoFit/>
          </a:bodyPr>
          <a:lstStyle/>
          <a:p>
            <a:pPr>
              <a:spcAft>
                <a:spcPts val="600"/>
              </a:spcAft>
              <a:defRPr sz="3600" b="1">
                <a:solidFill>
                  <a:srgbClr val="800020"/>
                </a:solidFill>
                <a:latin typeface="Georgia"/>
              </a:defRPr>
            </a:pPr>
            <a:r>
              <a:t>Sứ mệnh Vô sản số &amp; Liên minh mới</a:t>
            </a:r>
          </a:p>
          <a:p>
            <a:pPr>
              <a:defRPr sz="1600" i="1">
                <a:solidFill>
                  <a:srgbClr val="4A4A4A"/>
                </a:solidFill>
                <a:latin typeface="Georgia"/>
              </a:defRPr>
            </a:pPr>
            <a:r>
              <a:t>Lực lượng Lãnh đạo cuộc cách mạng giải phóng sức lao động trong Kỷ nguyên số</a:t>
            </a:r>
          </a:p>
        </p:txBody>
      </p:sp>
      <p:sp>
        <p:nvSpPr>
          <p:cNvPr id="3" name="TextBox 2"/>
          <p:cNvSpPr txBox="1"/>
          <p:nvPr/>
        </p:nvSpPr>
        <p:spPr>
          <a:xfrm>
            <a:off x="914400" y="2011680"/>
            <a:ext cx="7772400" cy="4114800"/>
          </a:xfrm>
          <a:prstGeom prst="rect">
            <a:avLst/>
          </a:prstGeom>
          <a:noFill/>
        </p:spPr>
        <p:txBody>
          <a:bodyPr wrap="square" lIns="0" tIns="0" rIns="0" bIns="0">
            <a:spAutoFit/>
          </a:bodyPr>
          <a:lstStyle/>
          <a:p>
            <a:pPr>
              <a:spcAft>
                <a:spcPts val="200"/>
              </a:spcAft>
              <a:defRPr sz="1500" b="1">
                <a:solidFill>
                  <a:srgbClr val="800020"/>
                </a:solidFill>
                <a:latin typeface="Arial"/>
              </a:defRPr>
            </a:pPr>
            <a:r>
              <a:t>📱 Nhận diện Giai cấp Vô sản số (Digital Proletariat)</a:t>
            </a:r>
          </a:p>
          <a:p>
            <a:pPr>
              <a:spcAft>
                <a:spcPts val="200"/>
              </a:spcAft>
              <a:defRPr sz="1350">
                <a:solidFill>
                  <a:srgbClr val="111111"/>
                </a:solidFill>
                <a:latin typeface="Calibri"/>
              </a:defRPr>
            </a:pPr>
            <a:r>
              <a:t> • Không sở hữu tư liệu sản xuất số cốt lõi (thuật toán, Big Data, platform).</a:t>
            </a:r>
          </a:p>
          <a:p>
            <a:pPr>
              <a:spcAft>
                <a:spcPts val="200"/>
              </a:spcAft>
              <a:defRPr sz="1350">
                <a:solidFill>
                  <a:srgbClr val="111111"/>
                </a:solidFill>
                <a:latin typeface="Calibri"/>
              </a:defRPr>
            </a:pPr>
            <a:r>
              <a:t> • Bán sức lao động trí óc (IT outsourcing, creator) hoặc lao động chân tay số (shipper, tài xế) để nhận chiết khấu/lương bấp bênh từ Big Tech.</a:t>
            </a:r>
          </a:p>
          <a:p>
            <a:pPr>
              <a:spcBef>
                <a:spcPts val="400"/>
              </a:spcBef>
              <a:spcAft>
                <a:spcPts val="200"/>
              </a:spcAft>
              <a:defRPr sz="1500" b="1">
                <a:solidFill>
                  <a:srgbClr val="800020"/>
                </a:solidFill>
                <a:latin typeface="Arial"/>
              </a:defRPr>
            </a:pPr>
            <a:r>
              <a:t>🎯 Sứ mệnh Lịch sử thời đại số</a:t>
            </a:r>
          </a:p>
          <a:p>
            <a:pPr>
              <a:spcAft>
                <a:spcPts val="200"/>
              </a:spcAft>
              <a:defRPr sz="1350">
                <a:solidFill>
                  <a:srgbClr val="111111"/>
                </a:solidFill>
                <a:latin typeface="Calibri"/>
              </a:defRPr>
            </a:pPr>
            <a:r>
              <a:t> • Xóa bỏ độc quyền số: Đấu tranh đòi minh bạch thuật toán phân phối lợi ích.</a:t>
            </a:r>
          </a:p>
          <a:p>
            <a:pPr>
              <a:spcAft>
                <a:spcPts val="200"/>
              </a:spcAft>
              <a:defRPr sz="1350">
                <a:solidFill>
                  <a:srgbClr val="111111"/>
                </a:solidFill>
                <a:latin typeface="Calibri"/>
              </a:defRPr>
            </a:pPr>
            <a:r>
              <a:t> • Giải phóng tư liệu sản xuất: Chuyển dịch hạ tầng độc quyền thành tài sản xã hội thông qua các dự án mã nguồn mở và nền tảng phi tập trung.</a:t>
            </a:r>
          </a:p>
          <a:p>
            <a:pPr>
              <a:spcBef>
                <a:spcPts val="400"/>
              </a:spcBef>
              <a:spcAft>
                <a:spcPts val="200"/>
              </a:spcAft>
              <a:defRPr sz="1500" b="1">
                <a:solidFill>
                  <a:srgbClr val="800020"/>
                </a:solidFill>
                <a:latin typeface="Arial"/>
              </a:defRPr>
            </a:pPr>
            <a:r>
              <a:t>🤝 Liên minh Vô sản mới (The New Alliance)</a:t>
            </a:r>
          </a:p>
          <a:p>
            <a:pPr>
              <a:spcAft>
                <a:spcPts val="200"/>
              </a:spcAft>
              <a:defRPr sz="1350">
                <a:solidFill>
                  <a:srgbClr val="111111"/>
                </a:solidFill>
                <a:latin typeface="Calibri"/>
              </a:defRPr>
            </a:pPr>
            <a:r>
              <a:t> • Liên minh chặt chẽ giữa Lao động trí óc số (kỹ sư IT, trí thức công nghệ) và Lao động chân tay số (shipper, công nhân phần cứng) làm đối trọng mạnh mẽ trước tư bản Big Tech.</a:t>
            </a:r>
          </a:p>
        </p:txBody>
      </p:sp>
      <p:sp>
        <p:nvSpPr>
          <p:cNvPr id="4" name="Rounded Rectangle 3"/>
          <p:cNvSpPr/>
          <p:nvPr/>
        </p:nvSpPr>
        <p:spPr>
          <a:xfrm>
            <a:off x="914400" y="6583680"/>
            <a:ext cx="7772400" cy="1645920"/>
          </a:xfrm>
          <a:prstGeom prst="roundRect">
            <a:avLst/>
          </a:prstGeom>
          <a:solidFill>
            <a:srgbClr val="EFECE6"/>
          </a:solidFill>
          <a:ln w="19050">
            <a:solidFill>
              <a:srgbClr val="80002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spcAft>
                <a:spcPts val="400"/>
              </a:spcAft>
              <a:defRPr sz="1400" b="1">
                <a:solidFill>
                  <a:srgbClr val="800020"/>
                </a:solidFill>
                <a:latin typeface="Georgia"/>
              </a:defRPr>
            </a:pPr>
            <a:r>
              <a:t>💡 BÀI HỌC TRIẾT HỌC</a:t>
            </a:r>
          </a:p>
          <a:p>
            <a:pPr>
              <a:defRPr sz="1250" i="1">
                <a:solidFill>
                  <a:srgbClr val="111111"/>
                </a:solidFill>
                <a:latin typeface="Calibri"/>
              </a:defRPr>
            </a:pPr>
            <a:r>
              <a:t>Vô sản toàn cầu thế kỷ 21 chỉ có thể giành thắng lợi khi biết sử dụng chính Mạng lưới số toàn cầu làm vũ khí liên hiệp, thiết lập thành công Liên minh Trí thức - Lao động nền tảng để giành lại quyền làm chủ công nghệ.</a:t>
            </a:r>
          </a:p>
        </p:txBody>
      </p:sp>
      <p:pic>
        <p:nvPicPr>
          <p:cNvPr id="5" name="Picture 4" descr="digital_proletariat_1780023954301.png"/>
          <p:cNvPicPr>
            <a:picLocks noChangeAspect="1"/>
          </p:cNvPicPr>
          <p:nvPr/>
        </p:nvPicPr>
        <p:blipFill>
          <a:blip r:embed="rId2"/>
          <a:stretch>
            <a:fillRect/>
          </a:stretch>
        </p:blipFill>
        <p:spPr>
          <a:xfrm>
            <a:off x="9144000" y="2011680"/>
            <a:ext cx="6217920" cy="3497579"/>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914400" y="457200"/>
            <a:ext cx="14429232" cy="1371600"/>
          </a:xfrm>
          <a:prstGeom prst="rect">
            <a:avLst/>
          </a:prstGeom>
          <a:noFill/>
        </p:spPr>
        <p:txBody>
          <a:bodyPr wrap="square" lIns="0" tIns="0" rIns="0" bIns="0">
            <a:spAutoFit/>
          </a:bodyPr>
          <a:lstStyle/>
          <a:p>
            <a:pPr>
              <a:spcAft>
                <a:spcPts val="600"/>
              </a:spcAft>
              <a:defRPr sz="3600" b="1">
                <a:solidFill>
                  <a:srgbClr val="800020"/>
                </a:solidFill>
                <a:latin typeface="Georgia"/>
              </a:defRPr>
            </a:pPr>
            <a:r>
              <a:t>Truy vấn Hệ thống mở rộng (NotebookLM Prompts)</a:t>
            </a:r>
          </a:p>
          <a:p>
            <a:pPr>
              <a:defRPr sz="1600" i="1">
                <a:solidFill>
                  <a:srgbClr val="4A4A4A"/>
                </a:solidFill>
                <a:latin typeface="Georgia"/>
              </a:defRPr>
            </a:pPr>
            <a:r>
              <a:t>Sử dụng AI để đối thoại sâu sắc hơn với tài liệu Chủ nghĩa duy vật lịch sử</a:t>
            </a:r>
          </a:p>
        </p:txBody>
      </p:sp>
      <p:sp>
        <p:nvSpPr>
          <p:cNvPr id="3" name="TextBox 2"/>
          <p:cNvSpPr txBox="1"/>
          <p:nvPr/>
        </p:nvSpPr>
        <p:spPr>
          <a:xfrm>
            <a:off x="914400" y="2011680"/>
            <a:ext cx="7772400" cy="4114800"/>
          </a:xfrm>
          <a:prstGeom prst="rect">
            <a:avLst/>
          </a:prstGeom>
          <a:noFill/>
        </p:spPr>
        <p:txBody>
          <a:bodyPr wrap="square" lIns="0" tIns="0" rIns="0" bIns="0">
            <a:spAutoFit/>
          </a:bodyPr>
          <a:lstStyle/>
          <a:p>
            <a:pPr>
              <a:spcAft>
                <a:spcPts val="600"/>
              </a:spcAft>
              <a:defRPr sz="1600" b="1">
                <a:solidFill>
                  <a:srgbClr val="800020"/>
                </a:solidFill>
                <a:latin typeface="Arial"/>
              </a:defRPr>
            </a:pPr>
            <a:r>
              <a:t>💻 DANH SÁCH TRUY VẤN TRIẾT HỌC SỐ:</a:t>
            </a:r>
          </a:p>
          <a:p>
            <a:pPr>
              <a:spcAft>
                <a:spcPts val="600"/>
              </a:spcAft>
            </a:pPr>
            <a:r>
              <a:rPr sz="1200" b="1">
                <a:solidFill>
                  <a:srgbClr val="800020"/>
                </a:solidFill>
                <a:latin typeface="Courier New"/>
              </a:rPr>
              <a:t>&gt; CÂU LỆNH 05: </a:t>
            </a:r>
            <a:r>
              <a:rPr sz="1250">
                <a:solidFill>
                  <a:srgbClr val="111111"/>
                </a:solidFill>
                <a:latin typeface="Calibri"/>
              </a:rPr>
              <a:t>Big Tech xuyên biên giới đã thách thức "Chủ quyền Dân tộc" và "Biên giới quốc gia" như thế nào dưới góc nhìn biện chứng của Chủ nghĩa duy vật lịch sử?</a:t>
            </a:r>
          </a:p>
          <a:p>
            <a:pPr>
              <a:spcAft>
                <a:spcPts val="600"/>
              </a:spcAft>
            </a:pPr>
            <a:r>
              <a:rPr sz="1200" b="1">
                <a:solidFill>
                  <a:srgbClr val="800020"/>
                </a:solidFill>
                <a:latin typeface="Courier New"/>
              </a:rPr>
              <a:t>&gt; CÂU LỆNH 06: </a:t>
            </a:r>
            <a:r>
              <a:rPr sz="1250">
                <a:solidFill>
                  <a:srgbClr val="111111"/>
                </a:solidFill>
                <a:latin typeface="Calibri"/>
              </a:rPr>
              <a:t>Phân tích tính biện chứng giữa hai xu hướng phát triển dân tộc trong kỷ nguyên số: Bảo vệ chủ quyền dữ liệu quốc gia và hội nhập kinh tế số toàn cầu.</a:t>
            </a:r>
          </a:p>
          <a:p>
            <a:pPr>
              <a:spcAft>
                <a:spcPts val="600"/>
              </a:spcAft>
            </a:pPr>
            <a:r>
              <a:rPr sz="1200" b="1">
                <a:solidFill>
                  <a:srgbClr val="800020"/>
                </a:solidFill>
                <a:latin typeface="Courier New"/>
              </a:rPr>
              <a:t>&gt; CÂU LỆNH 07: </a:t>
            </a:r>
            <a:r>
              <a:rPr sz="1250">
                <a:solidFill>
                  <a:srgbClr val="111111"/>
                </a:solidFill>
                <a:latin typeface="Calibri"/>
              </a:rPr>
              <a:t>Giai cấp vô sản số hiện đại (freelancer, IT engineer, shipper) có những đặc điểm gì giống và khác so với công nhân thế kỷ 19? Làm sao để xây dựng liên minh giữa họ?</a:t>
            </a:r>
          </a:p>
          <a:p>
            <a:pPr>
              <a:spcAft>
                <a:spcPts val="600"/>
              </a:spcAft>
            </a:pPr>
            <a:r>
              <a:rPr sz="1200" b="1">
                <a:solidFill>
                  <a:srgbClr val="800020"/>
                </a:solidFill>
                <a:latin typeface="Courier New"/>
              </a:rPr>
              <a:t>&gt; CÂU LỆNH 08: </a:t>
            </a:r>
            <a:r>
              <a:rPr sz="1250">
                <a:solidFill>
                  <a:srgbClr val="111111"/>
                </a:solidFill>
                <a:latin typeface="Calibri"/>
              </a:rPr>
              <a:t>Làm thế nào để áp dụng quan điểm của Lenin về "Quyền dân tộc tự quyết" vào việc đấu tranh giành lại chủ quyền dữ liệu và quyền tự chủ thuật toán trước các tập đoàn Big Tech?</a:t>
            </a:r>
          </a:p>
        </p:txBody>
      </p:sp>
      <p:sp>
        <p:nvSpPr>
          <p:cNvPr id="4" name="Rounded Rectangle 3"/>
          <p:cNvSpPr/>
          <p:nvPr/>
        </p:nvSpPr>
        <p:spPr>
          <a:xfrm>
            <a:off x="914400" y="6858000"/>
            <a:ext cx="7772400" cy="1097280"/>
          </a:xfrm>
          <a:prstGeom prst="roundRect">
            <a:avLst/>
          </a:prstGeom>
          <a:solidFill>
            <a:srgbClr val="F7F5F0"/>
          </a:solidFill>
          <a:ln w="19050">
            <a:solidFill>
              <a:srgbClr val="800020"/>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spcAft>
                <a:spcPts val="200"/>
              </a:spcAft>
              <a:defRPr sz="1300" b="1">
                <a:solidFill>
                  <a:srgbClr val="800020"/>
                </a:solidFill>
                <a:latin typeface="Arial"/>
              </a:defRPr>
            </a:pPr>
            <a:r>
              <a:t>📋 HƯỚNG DẪN DANH CHO ONG CHU:</a:t>
            </a:r>
          </a:p>
          <a:p>
            <a:pPr>
              <a:defRPr sz="1200">
                <a:solidFill>
                  <a:srgbClr val="111111"/>
                </a:solidFill>
                <a:latin typeface="Calibri"/>
              </a:defRPr>
            </a:pPr>
            <a:r>
              <a:t>Sao chep cac truy van tren vao NotebookLM de tiep tuc boc tach va doi thoai sau sac voi tai lieu hoc thuat.</a:t>
            </a:r>
          </a:p>
        </p:txBody>
      </p:sp>
      <p:pic>
        <p:nvPicPr>
          <p:cNvPr id="5" name="Picture 4" descr="notebooklm_prompts_1780023971341.png"/>
          <p:cNvPicPr>
            <a:picLocks noChangeAspect="1"/>
          </p:cNvPicPr>
          <p:nvPr/>
        </p:nvPicPr>
        <p:blipFill>
          <a:blip r:embed="rId2"/>
          <a:stretch>
            <a:fillRect/>
          </a:stretch>
        </p:blipFill>
        <p:spPr>
          <a:xfrm>
            <a:off x="9144000" y="2011680"/>
            <a:ext cx="6217920" cy="349757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